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  <p:sldMasterId id="2147483860" r:id="rId2"/>
  </p:sldMasterIdLst>
  <p:notesMasterIdLst>
    <p:notesMasterId r:id="rId13"/>
  </p:notesMasterIdLst>
  <p:sldIdLst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F2029-60FA-47D6-AF65-77D1A355B02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D08D7-15BD-4182-9491-7EDC12C2F2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54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5C24-7764-E91B-D7D7-08FAB020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808F73-73BE-8397-94A5-0C3E6015B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F8D13A-BF07-427E-9164-D4A05F574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8807F4-066B-547B-7565-E1ECE2B1A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D08D7-15BD-4182-9491-7EDC12C2F2D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156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D08D7-15BD-4182-9491-7EDC12C2F2D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372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59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3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52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71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89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4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551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2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7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63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348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16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71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06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712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935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0095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8689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153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1006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0989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61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698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6A98F-6529-4A4D-81D9-278D5E4B9CEA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D7E4F-D181-45D9-94A5-8F4AB6EDA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07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g"/><Relationship Id="rId7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g"/><Relationship Id="rId7" Type="http://schemas.openxmlformats.org/officeDocument/2006/relationships/image" Target="../media/image3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g"/><Relationship Id="rId7" Type="http://schemas.openxmlformats.org/officeDocument/2006/relationships/image" Target="../media/image4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위챗페이 사용법 완전 정복 | EXELIENT(엑셀리언트)">
            <a:extLst>
              <a:ext uri="{FF2B5EF4-FFF2-40B4-BE49-F238E27FC236}">
                <a16:creationId xmlns:a16="http://schemas.microsoft.com/office/drawing/2014/main" id="{A66AFF12-E710-E740-8FF8-9223194B0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3FCC46-BCD0-04BA-1FB4-D8E9D867629D}"/>
              </a:ext>
            </a:extLst>
          </p:cNvPr>
          <p:cNvSpPr txBox="1"/>
          <p:nvPr/>
        </p:nvSpPr>
        <p:spPr>
          <a:xfrm>
            <a:off x="5468112" y="3172968"/>
            <a:ext cx="5367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800" dirty="0">
                <a:solidFill>
                  <a:schemeClr val="accent6">
                    <a:lumMod val="75000"/>
                  </a:schemeClr>
                </a:solidFill>
                <a:latin typeface="HY얕은샘물M" panose="02030600000101010101" pitchFamily="18" charset="-127"/>
                <a:ea typeface="HY얕은샘물M" panose="02030600000101010101" pitchFamily="18" charset="-127"/>
              </a:rPr>
              <a:t>WeChat</a:t>
            </a:r>
            <a:r>
              <a:rPr lang="ko-KR" altLang="en-US" sz="4800" dirty="0">
                <a:latin typeface="HY얕은샘물M" panose="02030600000101010101" pitchFamily="18" charset="-127"/>
                <a:ea typeface="HY얕은샘물M" panose="02030600000101010101" pitchFamily="18" charset="-127"/>
              </a:rPr>
              <a:t> </a:t>
            </a:r>
            <a:r>
              <a:rPr lang="ko-KR" altLang="en-US" sz="4800" dirty="0" err="1">
                <a:latin typeface="HY얕은샘물M" panose="02030600000101010101" pitchFamily="18" charset="-127"/>
                <a:ea typeface="HY얕은샘물M" panose="02030600000101010101" pitchFamily="18" charset="-127"/>
              </a:rPr>
              <a:t>Pay</a:t>
            </a:r>
            <a:r>
              <a:rPr lang="ko-KR" altLang="en-US" sz="4800" dirty="0">
                <a:latin typeface="HY얕은샘물M" panose="02030600000101010101" pitchFamily="18" charset="-127"/>
                <a:ea typeface="HY얕은샘물M" panose="02030600000101010101" pitchFamily="18" charset="-127"/>
              </a:rPr>
              <a:t> </a:t>
            </a:r>
            <a:r>
              <a:rPr lang="ko-KR" altLang="en-US" sz="48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微信支付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E4269-A371-FC19-277B-2F90F7CD400D}"/>
              </a:ext>
            </a:extLst>
          </p:cNvPr>
          <p:cNvSpPr txBox="1"/>
          <p:nvPr/>
        </p:nvSpPr>
        <p:spPr>
          <a:xfrm>
            <a:off x="6096000" y="2185416"/>
            <a:ext cx="27119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b="1" dirty="0">
                <a:solidFill>
                  <a:srgbClr val="00B0F0"/>
                </a:solidFill>
                <a:latin typeface="HY얕은샘물M" panose="02030600000101010101" pitchFamily="18" charset="-127"/>
                <a:ea typeface="HY얕은샘물M" panose="02030600000101010101" pitchFamily="18" charset="-127"/>
              </a:rPr>
              <a:t>새 시대</a:t>
            </a:r>
            <a:r>
              <a:rPr lang="ko-KR" altLang="en-US" sz="4000" b="1" dirty="0">
                <a:latin typeface="HY얕은샘물M" panose="02030600000101010101" pitchFamily="18" charset="-127"/>
                <a:ea typeface="HY얕은샘물M" panose="02030600000101010101" pitchFamily="18" charset="-127"/>
              </a:rPr>
              <a:t>의 시작</a:t>
            </a:r>
          </a:p>
        </p:txBody>
      </p:sp>
    </p:spTree>
    <p:extLst>
      <p:ext uri="{BB962C8B-B14F-4D97-AF65-F5344CB8AC3E}">
        <p14:creationId xmlns:p14="http://schemas.microsoft.com/office/powerpoint/2010/main" val="811612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2917F-27A1-8960-70A2-4C9B0CAD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472556F-1607-52B1-BCF8-D6A82F4096ED}"/>
              </a:ext>
            </a:extLst>
          </p:cNvPr>
          <p:cNvSpPr txBox="1"/>
          <p:nvPr/>
        </p:nvSpPr>
        <p:spPr>
          <a:xfrm flipH="1">
            <a:off x="8311896" y="813816"/>
            <a:ext cx="3465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B050"/>
                </a:solidFill>
                <a:latin typeface="Microsoft JhengHei" panose="020B0604030504040204" pitchFamily="34" charset="-120"/>
              </a:rPr>
              <a:t>WeChat 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ko-KR" altLang="en-US" dirty="0" err="1">
                <a:solidFill>
                  <a:srgbClr val="002060"/>
                </a:solidFill>
              </a:rPr>
              <a:t>a</a:t>
            </a:r>
            <a:r>
              <a:rPr lang="ko-KR" altLang="en-US" dirty="0" err="1">
                <a:solidFill>
                  <a:srgbClr val="C00000"/>
                </a:solidFill>
              </a:rPr>
              <a:t>y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D7269F-F754-D3D1-E1EC-AC0EFFF69E3E}"/>
              </a:ext>
            </a:extLst>
          </p:cNvPr>
          <p:cNvSpPr txBox="1"/>
          <p:nvPr/>
        </p:nvSpPr>
        <p:spPr>
          <a:xfrm>
            <a:off x="9592056" y="1481328"/>
            <a:ext cx="2185416" cy="92333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accent5"/>
                </a:solidFill>
              </a:rPr>
              <a:t>M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O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3"/>
                </a:solidFill>
              </a:rPr>
              <a:t>K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rgbClr val="996633"/>
                </a:solidFill>
              </a:rPr>
              <a:t>P</a:t>
            </a:r>
            <a:endParaRPr lang="ko-KR" altLang="en-US" dirty="0">
              <a:solidFill>
                <a:srgbClr val="996633"/>
              </a:solidFill>
            </a:endParaRPr>
          </a:p>
          <a:p>
            <a:endParaRPr lang="ko-KR" altLang="en-US" dirty="0"/>
          </a:p>
          <a:p>
            <a:r>
              <a:rPr lang="ko-KR" altLang="en-US" dirty="0"/>
              <a:t>     </a:t>
            </a:r>
            <a:r>
              <a:rPr lang="ko-KR" altLang="en-US" dirty="0" err="1">
                <a:solidFill>
                  <a:schemeClr val="accent3">
                    <a:lumMod val="50000"/>
                  </a:schemeClr>
                </a:solidFill>
              </a:rPr>
              <a:t>S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t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</a:rPr>
              <a:t>y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l</a:t>
            </a:r>
            <a:r>
              <a:rPr lang="ko-KR" altLang="en-US" dirty="0" err="1">
                <a:solidFill>
                  <a:schemeClr val="accent3">
                    <a:lumMod val="50000"/>
                  </a:schemeClr>
                </a:solidFill>
              </a:rPr>
              <a:t>e</a:t>
            </a:r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9848B5-4B2D-4DBC-8118-76B4E92AD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87184" cy="4294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30" name="Picture 6" descr="설치 없이 바로 쓰는 앱? 미니프로그램의 모든 것! | EXELIENT(엑셀리언트)">
            <a:extLst>
              <a:ext uri="{FF2B5EF4-FFF2-40B4-BE49-F238E27FC236}">
                <a16:creationId xmlns:a16="http://schemas.microsoft.com/office/drawing/2014/main" id="{7691AF17-CA66-1510-7C0A-4F88DE7B4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73" y="4562856"/>
            <a:ext cx="2687709" cy="16824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중국 여행시 필수 어플 위챗페이의 장점과 알리페이와 차이는?">
            <a:extLst>
              <a:ext uri="{FF2B5EF4-FFF2-40B4-BE49-F238E27FC236}">
                <a16:creationId xmlns:a16="http://schemas.microsoft.com/office/drawing/2014/main" id="{4607B4B1-13B2-4627-0BCF-24D3902AA6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F7494A-857C-1B7F-A3CA-6A0416BC6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3554820"/>
            <a:ext cx="5004816" cy="3303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36" name="Picture 12" descr="한중일 간편결제 비교 - 삼성페이/위챗페이/스이카 : 네이버 블로그">
            <a:extLst>
              <a:ext uri="{FF2B5EF4-FFF2-40B4-BE49-F238E27FC236}">
                <a16:creationId xmlns:a16="http://schemas.microsoft.com/office/drawing/2014/main" id="{70CF44F7-37AB-0221-E047-21B5334DF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977" y="4294342"/>
            <a:ext cx="4267208" cy="2563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32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B4BC-14DF-36B0-7077-EE20FEDC7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D47F4F-2983-2629-71B5-BE95702C21B4}"/>
              </a:ext>
            </a:extLst>
          </p:cNvPr>
          <p:cNvSpPr txBox="1"/>
          <p:nvPr/>
        </p:nvSpPr>
        <p:spPr>
          <a:xfrm>
            <a:off x="774192" y="859536"/>
            <a:ext cx="31485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Style Guide</a:t>
            </a:r>
            <a:endParaRPr lang="ko-KR" altLang="en-US" sz="40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5174B7-768D-AF46-C152-EC1E30A80F2E}"/>
              </a:ext>
            </a:extLst>
          </p:cNvPr>
          <p:cNvSpPr txBox="1"/>
          <p:nvPr/>
        </p:nvSpPr>
        <p:spPr>
          <a:xfrm>
            <a:off x="356616" y="2491358"/>
            <a:ext cx="2584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Brand Color</a:t>
            </a:r>
            <a:endParaRPr lang="ko-KR" altLang="en-US" sz="2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C855E-FD8C-A4AA-725E-064DE0079CFC}"/>
              </a:ext>
            </a:extLst>
          </p:cNvPr>
          <p:cNvSpPr txBox="1"/>
          <p:nvPr/>
        </p:nvSpPr>
        <p:spPr>
          <a:xfrm>
            <a:off x="6096000" y="791597"/>
            <a:ext cx="20342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Typography</a:t>
            </a:r>
            <a:endParaRPr lang="ko-KR" altLang="en-US" sz="2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679CB3D-7AE7-2827-C0A9-2C7B85326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3696445"/>
            <a:ext cx="2396504" cy="81645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5695F42-C840-5F32-97EB-10345441B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29" y="4648524"/>
            <a:ext cx="2508044" cy="82181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1FD9A12-9251-C18C-6F41-23EFCCF26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929" y="5605964"/>
            <a:ext cx="2442191" cy="79722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7DBF64F-CE79-8B37-976E-CAD28277CB0C}"/>
              </a:ext>
            </a:extLst>
          </p:cNvPr>
          <p:cNvSpPr txBox="1"/>
          <p:nvPr/>
        </p:nvSpPr>
        <p:spPr>
          <a:xfrm>
            <a:off x="6551040" y="1253262"/>
            <a:ext cx="1579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Font style</a:t>
            </a: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A13808-FFD3-96A0-461D-6D44C4F5DBD6}"/>
              </a:ext>
            </a:extLst>
          </p:cNvPr>
          <p:cNvSpPr txBox="1"/>
          <p:nvPr/>
        </p:nvSpPr>
        <p:spPr>
          <a:xfrm>
            <a:off x="6551040" y="3595734"/>
            <a:ext cx="10720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Icons</a:t>
            </a:r>
            <a:endParaRPr lang="ko-KR" altLang="en-US" sz="2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69E937F0-C7CC-9153-AEC1-49929E0377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0742" y="4160794"/>
            <a:ext cx="667512" cy="62057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52172B0-79B4-9F7E-9E58-D6F0671A93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040" y="4277739"/>
            <a:ext cx="595122" cy="58820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72D562A-0E48-D90C-AF47-2BE21620A6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0891" y="4200312"/>
            <a:ext cx="595122" cy="58820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EFB16-620A-D763-082C-509157C5ED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3100" y="4293924"/>
            <a:ext cx="507111" cy="49459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3B17BCB-5300-027C-C635-2B1763EB9F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6147" y="4200312"/>
            <a:ext cx="761760" cy="62057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D27446DF-2BAF-360A-D3A8-462C4DE973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9656" y="5277274"/>
            <a:ext cx="585036" cy="645642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3B3230A-E0C6-29E9-E749-0CA4F19A8F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8298" y="5303104"/>
            <a:ext cx="585036" cy="593982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383EBA56-F565-9AB7-5351-0106BDCE36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1630" y="5296297"/>
            <a:ext cx="489014" cy="600789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DD4D4ED5-7464-C7B9-CC23-508139B281A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4509" y="5277575"/>
            <a:ext cx="585036" cy="64619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11BE8500-474E-C469-C518-B9A0F17FD3B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13151" y="5293120"/>
            <a:ext cx="1167920" cy="7354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766887-3C0A-F3A1-D79E-AEA785CB732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62552" y="934231"/>
            <a:ext cx="2724150" cy="21145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665398-2D1F-E8F3-7C8B-1D24D5BB896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12554" y="1057224"/>
            <a:ext cx="1476375" cy="19240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D039B0-531E-C34E-5526-E6591AB9168D}"/>
              </a:ext>
            </a:extLst>
          </p:cNvPr>
          <p:cNvSpPr txBox="1"/>
          <p:nvPr/>
        </p:nvSpPr>
        <p:spPr>
          <a:xfrm flipH="1">
            <a:off x="356616" y="3099157"/>
            <a:ext cx="1719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Main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Color</a:t>
            </a: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F21A98-FAE8-FCB1-301F-4E7180EA9A0F}"/>
              </a:ext>
            </a:extLst>
          </p:cNvPr>
          <p:cNvSpPr txBox="1"/>
          <p:nvPr/>
        </p:nvSpPr>
        <p:spPr>
          <a:xfrm flipH="1">
            <a:off x="3456431" y="3094703"/>
            <a:ext cx="1856232" cy="4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Other</a:t>
            </a:r>
            <a:r>
              <a:rPr lang="ko-KR" altLang="en-US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Color</a:t>
            </a:r>
            <a:endParaRPr lang="ko-KR" alt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92880B7-CA3B-AB45-ED7E-6BF6235EE9C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56431" y="3642914"/>
            <a:ext cx="2029245" cy="305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8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A07F1-DFC5-C16E-0F70-B4C57ECF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11BC56-2AF7-452B-A61F-0D33361E3E0E}"/>
              </a:ext>
            </a:extLst>
          </p:cNvPr>
          <p:cNvSpPr txBox="1"/>
          <p:nvPr/>
        </p:nvSpPr>
        <p:spPr>
          <a:xfrm>
            <a:off x="621792" y="603504"/>
            <a:ext cx="2587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sz="2400" b="1" dirty="0">
                <a:latin typeface="+mn-ea"/>
                <a:cs typeface="Pretendard ExtraBold" panose="02000903000000020004" pitchFamily="50" charset="-127"/>
              </a:rPr>
              <a:t>계좌 연동 안내</a:t>
            </a:r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sz="2400" b="1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190E6E-AE18-3F74-9A61-61A8CC6CB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564" y="603504"/>
            <a:ext cx="2743200" cy="53012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59DF3AE-3EC7-A9A5-7EAB-10AD6CA57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786" y="3461450"/>
            <a:ext cx="914400" cy="5810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96F2F09-92E9-1280-B3BF-194C6E107BD9}"/>
              </a:ext>
            </a:extLst>
          </p:cNvPr>
          <p:cNvSpPr txBox="1"/>
          <p:nvPr/>
        </p:nvSpPr>
        <p:spPr>
          <a:xfrm>
            <a:off x="551564" y="1652968"/>
            <a:ext cx="2020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b="1" dirty="0">
                <a:latin typeface="+mn-ea"/>
                <a:cs typeface="Pretendard ExtraBold" panose="02000903000000020004" pitchFamily="50" charset="-127"/>
              </a:rPr>
              <a:t>안내 문구</a:t>
            </a:r>
            <a:r>
              <a:rPr lang="en-US" altLang="ko-KR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b="1" dirty="0">
              <a:latin typeface="+mn-ea"/>
              <a:cs typeface="Pretendard ExtraBold" panose="020009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F73FC2-3BA1-74E1-3D4B-EE61792D24FE}"/>
              </a:ext>
            </a:extLst>
          </p:cNvPr>
          <p:cNvSpPr txBox="1"/>
          <p:nvPr/>
        </p:nvSpPr>
        <p:spPr>
          <a:xfrm>
            <a:off x="551564" y="2610098"/>
            <a:ext cx="303288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간편한 실명 인증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사용자는 </a:t>
            </a:r>
            <a:r>
              <a:rPr lang="ko-KR" altLang="en-US" sz="1400" dirty="0" err="1">
                <a:latin typeface="+mn-ea"/>
                <a:cs typeface="Pretendard ExtraBold" panose="02000903000000020004" pitchFamily="50" charset="-127"/>
              </a:rPr>
              <a:t>위챗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 앱 내에서 실명 인증 후 은행 계좌를 바로 연동 가능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다양한 은행 연동 지원 </a:t>
            </a:r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중국 본토 은행은 물론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, 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일부 해외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카드 및 계좌도 연동 가능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자동 연동 </a:t>
            </a:r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UI </a:t>
            </a:r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제공</a:t>
            </a:r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계좌 연동 시 사용자 흐름을 방해하지 않는 팝업 및 </a:t>
            </a:r>
            <a:r>
              <a:rPr lang="ko-KR" altLang="en-US" sz="1400" dirty="0" err="1">
                <a:latin typeface="+mn-ea"/>
                <a:cs typeface="Pretendard ExtraBold" panose="02000903000000020004" pitchFamily="50" charset="-127"/>
              </a:rPr>
              <a:t>온보딩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 가이드 제공</a:t>
            </a:r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8991AC-60A0-4366-5037-6C9E2257C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178" y="953208"/>
            <a:ext cx="2587752" cy="49515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F8C6BE3-AD10-970F-0AB1-4DF79568C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277" y="5991235"/>
            <a:ext cx="3209925" cy="6000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8A91380-3AC4-7C67-43DE-1B19ADB5A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356" y="6015047"/>
            <a:ext cx="323850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92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84CD-3A57-004E-FE93-B0C6DB0A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A42ECF-F750-C773-0713-143D174C4C2A}"/>
              </a:ext>
            </a:extLst>
          </p:cNvPr>
          <p:cNvSpPr txBox="1"/>
          <p:nvPr/>
        </p:nvSpPr>
        <p:spPr>
          <a:xfrm>
            <a:off x="621792" y="603504"/>
            <a:ext cx="2587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sz="2400" b="1" dirty="0">
                <a:latin typeface="+mn-ea"/>
                <a:cs typeface="Pretendard ExtraBold" panose="02000903000000020004" pitchFamily="50" charset="-127"/>
              </a:rPr>
              <a:t>다양한 </a:t>
            </a:r>
            <a:r>
              <a:rPr lang="ko-KR" altLang="en-US" sz="2400" b="1" dirty="0" err="1">
                <a:latin typeface="+mn-ea"/>
                <a:cs typeface="Pretendard ExtraBold" panose="02000903000000020004" pitchFamily="50" charset="-127"/>
              </a:rPr>
              <a:t>결제처</a:t>
            </a:r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sz="2400" b="1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21836FA-5C23-B3D6-AF57-6FFEB16BD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229" y="3429002"/>
            <a:ext cx="633185" cy="4023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B0CFEF-C343-784C-D61C-A97014EB7FCB}"/>
              </a:ext>
            </a:extLst>
          </p:cNvPr>
          <p:cNvSpPr txBox="1"/>
          <p:nvPr/>
        </p:nvSpPr>
        <p:spPr>
          <a:xfrm>
            <a:off x="551564" y="1652968"/>
            <a:ext cx="2020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b="1" dirty="0">
                <a:latin typeface="+mn-ea"/>
                <a:cs typeface="Pretendard ExtraBold" panose="02000903000000020004" pitchFamily="50" charset="-127"/>
              </a:rPr>
              <a:t>안내 문구</a:t>
            </a:r>
            <a:r>
              <a:rPr lang="en-US" altLang="ko-KR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b="1" dirty="0">
              <a:latin typeface="+mn-ea"/>
              <a:cs typeface="Pretendard ExtraBold" panose="020009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D5AF06-7B38-925D-F238-5EE4AB07032F}"/>
              </a:ext>
            </a:extLst>
          </p:cNvPr>
          <p:cNvSpPr txBox="1"/>
          <p:nvPr/>
        </p:nvSpPr>
        <p:spPr>
          <a:xfrm>
            <a:off x="104973" y="2276857"/>
            <a:ext cx="331922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1</a:t>
            </a:r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단계 </a:t>
            </a:r>
            <a:r>
              <a:rPr lang="ko-KR" altLang="en-US" sz="14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위챗</a:t>
            </a:r>
            <a:r>
              <a:rPr lang="ko-KR" altLang="en-US" sz="1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다운로드 혹은 업데이트</a:t>
            </a:r>
            <a:endParaRPr lang="en-US" altLang="ko-KR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2</a:t>
            </a:r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단계 </a:t>
            </a:r>
            <a:r>
              <a:rPr lang="ko-KR" altLang="en-US" sz="14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위챗에</a:t>
            </a:r>
            <a:r>
              <a:rPr lang="ko-KR" altLang="en-US" sz="1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결제 카드 추가 </a:t>
            </a:r>
            <a:endParaRPr lang="en-US" altLang="ko-KR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방법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1.</a:t>
            </a:r>
            <a:r>
              <a:rPr lang="ko-KR" altLang="en-US" sz="1200" dirty="0" err="1">
                <a:latin typeface="+mn-ea"/>
                <a:cs typeface="Pretendard ExtraBold" panose="02000903000000020004" pitchFamily="50" charset="-127"/>
              </a:rPr>
              <a:t>위챗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 상단 앱 실행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&gt;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앱 </a:t>
            </a:r>
            <a:r>
              <a:rPr lang="ko-KR" altLang="en-US" sz="1200" dirty="0" err="1">
                <a:latin typeface="+mn-ea"/>
                <a:cs typeface="Pretendard ExtraBold" panose="02000903000000020004" pitchFamily="50" charset="-127"/>
              </a:rPr>
              <a:t>우상단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+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입력 </a:t>
            </a:r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&gt;[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스캔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]&gt;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아래 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QR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코드 스캔</a:t>
            </a:r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방법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2.[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나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]&gt;[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서비스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]&gt;[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지갑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]&gt;[Bank of Cards]</a:t>
            </a:r>
          </a:p>
          <a:p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선택 후 카드 추가 </a:t>
            </a:r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3</a:t>
            </a:r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단계 </a:t>
            </a:r>
            <a:r>
              <a:rPr lang="ko-KR" altLang="en-US" sz="14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위챗</a:t>
            </a:r>
            <a:r>
              <a:rPr lang="ko-KR" altLang="en-US" sz="14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페이 결제 방법 </a:t>
            </a:r>
            <a:endParaRPr lang="en-US" altLang="ko-KR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방법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1. 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스캔 결제 </a:t>
            </a:r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방법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2. 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가맹점에 결제용 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QR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코드 제시 </a:t>
            </a:r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방법</a:t>
            </a:r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3. 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가맹점 앱 내 결제 방법에서 </a:t>
            </a:r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en-US" altLang="ko-KR" sz="1200" dirty="0">
                <a:latin typeface="+mn-ea"/>
                <a:cs typeface="Pretendard ExtraBold" panose="02000903000000020004" pitchFamily="50" charset="-127"/>
              </a:rPr>
              <a:t>         </a:t>
            </a:r>
            <a:r>
              <a:rPr lang="ko-KR" altLang="en-US" sz="1200" dirty="0" err="1">
                <a:latin typeface="+mn-ea"/>
                <a:cs typeface="Pretendard ExtraBold" panose="02000903000000020004" pitchFamily="50" charset="-127"/>
              </a:rPr>
              <a:t>위챗</a:t>
            </a:r>
            <a:r>
              <a:rPr lang="ko-KR" altLang="en-US" sz="1200" dirty="0">
                <a:latin typeface="+mn-ea"/>
                <a:cs typeface="Pretendard ExtraBold" panose="02000903000000020004" pitchFamily="50" charset="-127"/>
              </a:rPr>
              <a:t> 페이 선택 </a:t>
            </a:r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200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F5CF12-4CF5-013D-798C-B68A5DBAE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750" y="1065169"/>
            <a:ext cx="2271924" cy="49194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2B99955-CA4C-D435-6831-A67AC0569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60" y="1065169"/>
            <a:ext cx="2271924" cy="49194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CA91B3-CA0A-DABE-3C9D-325652E9E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872" y="3429002"/>
            <a:ext cx="633185" cy="4023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E07892-1B85-FD7E-45A3-DA762450C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103" y="1065169"/>
            <a:ext cx="2271924" cy="49194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54C621-8D0E-BC99-4EB1-CD4721F40E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369" y="6079615"/>
            <a:ext cx="2409825" cy="5143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402A15C-1FF4-18C7-88E4-05A760FDE3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4022" y="6174865"/>
            <a:ext cx="1828800" cy="3238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3554A4E-B1BF-1460-FC1A-96FE123049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4895" y="6079615"/>
            <a:ext cx="26574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52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00EC7-0CDA-20EA-5E65-8EA5564E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D16FD5-EA0E-3082-5F56-803654C4161C}"/>
              </a:ext>
            </a:extLst>
          </p:cNvPr>
          <p:cNvSpPr txBox="1"/>
          <p:nvPr/>
        </p:nvSpPr>
        <p:spPr>
          <a:xfrm>
            <a:off x="621792" y="603504"/>
            <a:ext cx="2587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sz="2400" b="1" dirty="0">
                <a:latin typeface="+mn-ea"/>
                <a:cs typeface="Pretendard ExtraBold" panose="02000903000000020004" pitchFamily="50" charset="-127"/>
              </a:rPr>
              <a:t>카드 결제 지원</a:t>
            </a:r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sz="2400" b="1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2F15031-018E-A7A4-6DCF-F8A130293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711" y="3138487"/>
            <a:ext cx="710760" cy="5810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FC2CA12-5B6A-ACA2-045C-735895637088}"/>
              </a:ext>
            </a:extLst>
          </p:cNvPr>
          <p:cNvSpPr txBox="1"/>
          <p:nvPr/>
        </p:nvSpPr>
        <p:spPr>
          <a:xfrm>
            <a:off x="551564" y="1652968"/>
            <a:ext cx="2020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b="1" dirty="0">
                <a:latin typeface="+mn-ea"/>
                <a:cs typeface="Pretendard ExtraBold" panose="02000903000000020004" pitchFamily="50" charset="-127"/>
              </a:rPr>
              <a:t>안내 문구</a:t>
            </a:r>
            <a:r>
              <a:rPr lang="en-US" altLang="ko-KR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b="1" dirty="0">
              <a:latin typeface="+mn-ea"/>
              <a:cs typeface="Pretendard ExtraBold" panose="020009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4D2E6A-521C-186E-CCEF-6546030E34D7}"/>
              </a:ext>
            </a:extLst>
          </p:cNvPr>
          <p:cNvSpPr txBox="1"/>
          <p:nvPr/>
        </p:nvSpPr>
        <p:spPr>
          <a:xfrm>
            <a:off x="177694" y="2423160"/>
            <a:ext cx="349819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신용</a:t>
            </a:r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/</a:t>
            </a:r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체크카드 연동 가능</a:t>
            </a:r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일부 국제 브랜드 카드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(</a:t>
            </a:r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Visa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, </a:t>
            </a:r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Master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 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등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)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및 중국 카드 연동 지원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카드 우선 결제 가능</a:t>
            </a:r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계좌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/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카드 중 기본 결제수단 설정 가능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 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결제 내역 관리 </a:t>
            </a:r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UI </a:t>
            </a:r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제공 </a:t>
            </a:r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카드별 결제 내역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, 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잔액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, 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알림 기능 포함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5208DF-0FE2-C211-4139-1DB993777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109" y="1074310"/>
            <a:ext cx="2086116" cy="45171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B7D01DE-EB33-1F4E-E6E4-38FA62B69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747" y="3138487"/>
            <a:ext cx="710760" cy="5810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BD3C0F-5245-CEF9-9D9C-4A895BFE6F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957" y="1074310"/>
            <a:ext cx="2086116" cy="45171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769B4B-2733-7F4B-78E4-D453194031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05" y="1074310"/>
            <a:ext cx="2086116" cy="45171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C0AD1C5-A1AB-1A9B-8792-08D6B3A68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371" y="5801868"/>
            <a:ext cx="2714625" cy="6858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A79796-1585-D7DD-F435-6831AEE9DB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100" y="5839968"/>
            <a:ext cx="2247900" cy="647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7DD74C5-ED39-DC30-1498-750525DBD9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6109" y="5937885"/>
            <a:ext cx="21240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8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E1BA2-A65A-77FF-CF75-60CB47D4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59B69A-4063-58BC-BA30-D060BB855BC6}"/>
              </a:ext>
            </a:extLst>
          </p:cNvPr>
          <p:cNvSpPr txBox="1"/>
          <p:nvPr/>
        </p:nvSpPr>
        <p:spPr>
          <a:xfrm>
            <a:off x="621792" y="603504"/>
            <a:ext cx="2862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sz="2400" b="1" dirty="0">
                <a:latin typeface="+mn-ea"/>
                <a:cs typeface="Pretendard ExtraBold" panose="02000903000000020004" pitchFamily="50" charset="-127"/>
              </a:rPr>
              <a:t>편리한 결제 방식</a:t>
            </a:r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sz="2400" b="1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28429AE-3DFE-FFF0-E9D3-EE4C3508C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307" y="3138487"/>
            <a:ext cx="710760" cy="5810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A69A5C6-4350-E6F9-A449-1AB2BD86DDD5}"/>
              </a:ext>
            </a:extLst>
          </p:cNvPr>
          <p:cNvSpPr txBox="1"/>
          <p:nvPr/>
        </p:nvSpPr>
        <p:spPr>
          <a:xfrm>
            <a:off x="551564" y="1652968"/>
            <a:ext cx="2020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b="1" dirty="0">
                <a:latin typeface="+mn-ea"/>
                <a:cs typeface="Pretendard ExtraBold" panose="02000903000000020004" pitchFamily="50" charset="-127"/>
              </a:rPr>
              <a:t>안내 문구</a:t>
            </a:r>
            <a:r>
              <a:rPr lang="en-US" altLang="ko-KR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b="1" dirty="0">
              <a:latin typeface="+mn-ea"/>
              <a:cs typeface="Pretendard ExtraBold" panose="020009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8A55FA-2DB5-029A-D749-636B016C0938}"/>
              </a:ext>
            </a:extLst>
          </p:cNvPr>
          <p:cNvSpPr txBox="1"/>
          <p:nvPr/>
        </p:nvSpPr>
        <p:spPr>
          <a:xfrm>
            <a:off x="551564" y="2450592"/>
            <a:ext cx="277420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1</a:t>
            </a:r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초 결제 </a:t>
            </a:r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UX</a:t>
            </a: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비밀번호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/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얼굴 인식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/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지문 등 생체 인증 기반 빠른 결제 흐름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b="1" dirty="0" err="1">
                <a:latin typeface="+mn-ea"/>
                <a:cs typeface="Pretendard ExtraBold" panose="02000903000000020004" pitchFamily="50" charset="-127"/>
              </a:rPr>
              <a:t>무지연</a:t>
            </a:r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 </a:t>
            </a:r>
            <a:r>
              <a:rPr lang="en-US" altLang="ko-KR" sz="1400" b="1" dirty="0">
                <a:latin typeface="+mn-ea"/>
                <a:cs typeface="Pretendard ExtraBold" panose="02000903000000020004" pitchFamily="50" charset="-127"/>
              </a:rPr>
              <a:t>UI </a:t>
            </a:r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설계</a:t>
            </a:r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결제 과정 중 로딩 최소화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, </a:t>
            </a: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애니메이션 및 진동 피드백으로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직관적 </a:t>
            </a:r>
            <a:r>
              <a:rPr lang="en-US" altLang="ko-KR" sz="1400" dirty="0">
                <a:latin typeface="+mn-ea"/>
                <a:cs typeface="Pretendard ExtraBold" panose="02000903000000020004" pitchFamily="50" charset="-127"/>
              </a:rPr>
              <a:t>UX</a:t>
            </a:r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구성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b="1" dirty="0">
                <a:latin typeface="+mn-ea"/>
                <a:cs typeface="Pretendard ExtraBold" panose="02000903000000020004" pitchFamily="50" charset="-127"/>
              </a:rPr>
              <a:t>미리 충전 필요 없음 </a:t>
            </a:r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400" dirty="0">
                <a:latin typeface="+mn-ea"/>
                <a:cs typeface="Pretendard ExtraBold" panose="02000903000000020004" pitchFamily="50" charset="-127"/>
              </a:rPr>
              <a:t>계좌 직결 방식으로 충전 없이 바로 결제 가능 </a:t>
            </a:r>
            <a:endParaRPr lang="en-US" altLang="ko-KR" sz="1400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B3C838-8BC5-89CA-C75F-B4BABCD67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979" y="3180744"/>
            <a:ext cx="710760" cy="5810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E4B2288-E4F7-0D42-D446-880D33CC0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259" y="1104091"/>
            <a:ext cx="2132568" cy="47343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0C26B82-5FFB-06F1-D3AD-4D19D61028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547" y="1104090"/>
            <a:ext cx="2132568" cy="47343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5403C24-79F0-1E6F-E189-BD50AB3FC4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054" y="1104090"/>
            <a:ext cx="2053376" cy="47343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0AE098D-D865-9355-7FEA-12764E85C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9958" y="6005322"/>
            <a:ext cx="2266950" cy="571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AEF732-68E4-8B35-2DD7-ECFD24C2E2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9381" y="5952934"/>
            <a:ext cx="1866900" cy="6762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9F540BB-7A69-6BAB-76D3-D77F5C8876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3558" y="5952934"/>
            <a:ext cx="15906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7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C022C-BB78-D446-AB6A-0CE501FBA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06E344-37E2-0AEC-46D1-62B63D016F23}"/>
              </a:ext>
            </a:extLst>
          </p:cNvPr>
          <p:cNvSpPr txBox="1"/>
          <p:nvPr/>
        </p:nvSpPr>
        <p:spPr>
          <a:xfrm>
            <a:off x="621792" y="603504"/>
            <a:ext cx="2862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sz="2400" b="1" dirty="0">
                <a:latin typeface="+mn-ea"/>
                <a:cs typeface="Pretendard ExtraBold" panose="02000903000000020004" pitchFamily="50" charset="-127"/>
              </a:rPr>
              <a:t>높은 범용성</a:t>
            </a:r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sz="2400" b="1" dirty="0">
              <a:latin typeface="+mn-ea"/>
              <a:cs typeface="Pretendard ExtraBold" panose="020009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13F2B9-BE0D-11AD-D85E-D4FEADB9529C}"/>
              </a:ext>
            </a:extLst>
          </p:cNvPr>
          <p:cNvSpPr txBox="1"/>
          <p:nvPr/>
        </p:nvSpPr>
        <p:spPr>
          <a:xfrm>
            <a:off x="582569" y="2450592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C01DDD-F9B5-3E4F-C93F-81A4871BA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210" y="384047"/>
            <a:ext cx="4345457" cy="588386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C17B92-62B0-D4F3-7DA2-30029339BBE2}"/>
              </a:ext>
            </a:extLst>
          </p:cNvPr>
          <p:cNvSpPr txBox="1"/>
          <p:nvPr/>
        </p:nvSpPr>
        <p:spPr>
          <a:xfrm>
            <a:off x="582569" y="2573702"/>
            <a:ext cx="482734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+mn-ea"/>
                <a:cs typeface="Pretendard ExtraBold" panose="02000903000000020004" pitchFamily="50" charset="-127"/>
              </a:rPr>
              <a:t>중국 내 모든 주요 앱과 연동</a:t>
            </a:r>
            <a:endParaRPr lang="en-US" altLang="ko-KR" sz="16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택시</a:t>
            </a:r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, 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음식 배달</a:t>
            </a:r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, 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티켓 예매</a:t>
            </a:r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, 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공공요금 등</a:t>
            </a:r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b="1" dirty="0">
                <a:latin typeface="+mn-ea"/>
                <a:cs typeface="Pretendard ExtraBold" panose="02000903000000020004" pitchFamily="50" charset="-127"/>
              </a:rPr>
              <a:t>해외 사용 확장 중 </a:t>
            </a:r>
            <a:endParaRPr lang="en-US" altLang="ko-KR" sz="16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동남아 및 한국 일부 상점에서도 사용 가능</a:t>
            </a:r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(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알리 페이</a:t>
            </a:r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+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제휴 모델 포함</a:t>
            </a:r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)</a:t>
            </a: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b="1" dirty="0" err="1">
                <a:latin typeface="+mn-ea"/>
                <a:cs typeface="Pretendard ExtraBold" panose="02000903000000020004" pitchFamily="50" charset="-127"/>
              </a:rPr>
              <a:t>위챗</a:t>
            </a:r>
            <a:r>
              <a:rPr lang="ko-KR" altLang="en-US" sz="1600" b="1" dirty="0">
                <a:latin typeface="+mn-ea"/>
                <a:cs typeface="Pretendard ExtraBold" panose="02000903000000020004" pitchFamily="50" charset="-127"/>
              </a:rPr>
              <a:t> 자체의 높은 점유율 활용</a:t>
            </a:r>
            <a:endParaRPr lang="en-US" altLang="ko-KR" sz="16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슈퍼 앱 속 결제 기능으로 접근성 우수  </a:t>
            </a:r>
          </a:p>
        </p:txBody>
      </p:sp>
    </p:spTree>
    <p:extLst>
      <p:ext uri="{BB962C8B-B14F-4D97-AF65-F5344CB8AC3E}">
        <p14:creationId xmlns:p14="http://schemas.microsoft.com/office/powerpoint/2010/main" val="2801228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B239-EF09-3970-2F2D-66E321FC7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4FB4A-744E-A219-5F92-2DB07341FE7C}"/>
              </a:ext>
            </a:extLst>
          </p:cNvPr>
          <p:cNvSpPr txBox="1"/>
          <p:nvPr/>
        </p:nvSpPr>
        <p:spPr>
          <a:xfrm>
            <a:off x="621791" y="603504"/>
            <a:ext cx="4974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[</a:t>
            </a:r>
            <a:r>
              <a:rPr lang="ko-KR" altLang="en-US" sz="2400" b="1" dirty="0">
                <a:latin typeface="+mn-ea"/>
                <a:cs typeface="Pretendard ExtraBold" panose="02000903000000020004" pitchFamily="50" charset="-127"/>
              </a:rPr>
              <a:t>부산 도시철도 지하철 </a:t>
            </a:r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2</a:t>
            </a:r>
            <a:r>
              <a:rPr lang="ko-KR" altLang="en-US" sz="2400" b="1" dirty="0">
                <a:latin typeface="+mn-ea"/>
                <a:cs typeface="Pretendard ExtraBold" panose="02000903000000020004" pitchFamily="50" charset="-127"/>
              </a:rPr>
              <a:t>호선 도입 </a:t>
            </a:r>
            <a:r>
              <a:rPr lang="en-US" altLang="ko-KR" sz="2400" b="1" dirty="0">
                <a:latin typeface="+mn-ea"/>
                <a:cs typeface="Pretendard ExtraBold" panose="02000903000000020004" pitchFamily="50" charset="-127"/>
              </a:rPr>
              <a:t>]</a:t>
            </a:r>
            <a:endParaRPr lang="ko-KR" altLang="en-US" sz="2400" b="1" dirty="0">
              <a:latin typeface="+mn-ea"/>
              <a:cs typeface="Pretendard ExtraBold" panose="020009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CD9F58-65A0-8474-DFA1-4358B1D403FD}"/>
              </a:ext>
            </a:extLst>
          </p:cNvPr>
          <p:cNvSpPr txBox="1"/>
          <p:nvPr/>
        </p:nvSpPr>
        <p:spPr>
          <a:xfrm>
            <a:off x="582569" y="2450592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7AB1E-2648-984F-59FE-711AC7C840BB}"/>
              </a:ext>
            </a:extLst>
          </p:cNvPr>
          <p:cNvSpPr txBox="1"/>
          <p:nvPr/>
        </p:nvSpPr>
        <p:spPr>
          <a:xfrm>
            <a:off x="582569" y="2573702"/>
            <a:ext cx="482734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n-ea"/>
                <a:cs typeface="Pretendard ExtraBold" panose="02000903000000020004" pitchFamily="50" charset="-127"/>
              </a:rPr>
              <a:t>QR</a:t>
            </a:r>
            <a:r>
              <a:rPr lang="ko-KR" altLang="en-US" sz="1600" b="1" dirty="0">
                <a:latin typeface="+mn-ea"/>
                <a:cs typeface="Pretendard ExtraBold" panose="02000903000000020004" pitchFamily="50" charset="-127"/>
              </a:rPr>
              <a:t>결제 시스템 도입 </a:t>
            </a:r>
            <a:endParaRPr lang="en-US" altLang="ko-KR" sz="16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2025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년부터 부산 지하철 </a:t>
            </a:r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2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호선 </a:t>
            </a:r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일부 역</a:t>
            </a:r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(ex.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해운대역</a:t>
            </a:r>
            <a:r>
              <a:rPr lang="en-US" altLang="ko-KR" sz="1600" dirty="0">
                <a:latin typeface="+mn-ea"/>
                <a:cs typeface="Pretendard ExtraBold" panose="02000903000000020004" pitchFamily="50" charset="-127"/>
              </a:rPr>
              <a:t>)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에서 </a:t>
            </a:r>
            <a:r>
              <a:rPr lang="ko-KR" altLang="en-US" sz="1600" dirty="0" err="1">
                <a:latin typeface="+mn-ea"/>
                <a:cs typeface="Pretendard ExtraBold" panose="02000903000000020004" pitchFamily="50" charset="-127"/>
              </a:rPr>
              <a:t>위챗페이</a:t>
            </a:r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 결제 시범 운영 </a:t>
            </a:r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b="1" dirty="0">
                <a:latin typeface="+mn-ea"/>
                <a:cs typeface="Pretendard ExtraBold" panose="02000903000000020004" pitchFamily="50" charset="-127"/>
              </a:rPr>
              <a:t>중국인 관광객 대상 접근성 강화</a:t>
            </a:r>
            <a:endParaRPr lang="en-US" altLang="ko-KR" sz="16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별도 환전 없이 바로 결제 가능 </a:t>
            </a:r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b="1" dirty="0">
                <a:latin typeface="+mn-ea"/>
                <a:cs typeface="Pretendard ExtraBold" panose="02000903000000020004" pitchFamily="50" charset="-127"/>
              </a:rPr>
              <a:t>디지털 교통 시스템 연계</a:t>
            </a:r>
            <a:endParaRPr lang="en-US" altLang="ko-KR" sz="1600" b="1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모바일 승차권 구매와 실시간 탑승 가능 시스템</a:t>
            </a:r>
            <a:endParaRPr lang="en-US" altLang="ko-KR" sz="1600" dirty="0">
              <a:latin typeface="+mn-ea"/>
              <a:cs typeface="Pretendard ExtraBold" panose="02000903000000020004" pitchFamily="50" charset="-127"/>
            </a:endParaRPr>
          </a:p>
          <a:p>
            <a:r>
              <a:rPr lang="ko-KR" altLang="en-US" sz="1600" dirty="0">
                <a:latin typeface="+mn-ea"/>
                <a:cs typeface="Pretendard ExtraBold" panose="02000903000000020004" pitchFamily="50" charset="-127"/>
              </a:rPr>
              <a:t>연동 추진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713753-3199-2DFF-E728-201E72D57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642" y="603504"/>
            <a:ext cx="2353088" cy="50952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54176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064AF-20B1-B4D2-9400-2AB91088E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3D13CED-4A3A-0F9E-FAC6-147265D65B71}"/>
              </a:ext>
            </a:extLst>
          </p:cNvPr>
          <p:cNvSpPr txBox="1"/>
          <p:nvPr/>
        </p:nvSpPr>
        <p:spPr>
          <a:xfrm>
            <a:off x="582569" y="2450592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  <a:p>
            <a:endParaRPr lang="en-US" altLang="ko-KR" sz="1400" b="1" dirty="0">
              <a:latin typeface="+mn-ea"/>
              <a:cs typeface="Pretendard ExtraBold" panose="020009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0A1F2D-B135-E7D6-8508-0BFEA8F96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2020633"/>
            <a:ext cx="541020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4283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_Simple01">
  <a:themeElements>
    <a:clrScheme name="New_Simple01">
      <a:dk1>
        <a:sysClr val="windowText" lastClr="000000"/>
      </a:dk1>
      <a:lt1>
        <a:sysClr val="window" lastClr="FFFFFF"/>
      </a:lt1>
      <a:dk2>
        <a:srgbClr val="562B71"/>
      </a:dk2>
      <a:lt2>
        <a:srgbClr val="DFF0F7"/>
      </a:lt2>
      <a:accent1>
        <a:srgbClr val="6BA2DF"/>
      </a:accent1>
      <a:accent2>
        <a:srgbClr val="C0504D"/>
      </a:accent2>
      <a:accent3>
        <a:srgbClr val="9BBB59"/>
      </a:accent3>
      <a:accent4>
        <a:srgbClr val="8064A2"/>
      </a:accent4>
      <a:accent5>
        <a:srgbClr val="AA5E74"/>
      </a:accent5>
      <a:accent6>
        <a:srgbClr val="EF9031"/>
      </a:accent6>
      <a:hlink>
        <a:srgbClr val="FF0000"/>
      </a:hlink>
      <a:folHlink>
        <a:srgbClr val="92D05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TM02892315[[fn=줄기]]</Template>
  <TotalTime>342</TotalTime>
  <Words>392</Words>
  <Application>Microsoft Office PowerPoint</Application>
  <PresentationFormat>와이드스크린</PresentationFormat>
  <Paragraphs>104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25" baseType="lpstr">
      <vt:lpstr>HY얕은샘물M</vt:lpstr>
      <vt:lpstr>HY헤드라인M</vt:lpstr>
      <vt:lpstr>Microsoft JhengHei</vt:lpstr>
      <vt:lpstr>Noto Sans KR</vt:lpstr>
      <vt:lpstr>Pretendard</vt:lpstr>
      <vt:lpstr>Pretendard ExtraBold</vt:lpstr>
      <vt:lpstr>맑은 고딕</vt:lpstr>
      <vt:lpstr>Arial</vt:lpstr>
      <vt:lpstr>Calibri</vt:lpstr>
      <vt:lpstr>Calibri Light</vt:lpstr>
      <vt:lpstr>Tw Cen MT</vt:lpstr>
      <vt:lpstr>Wingdings 2</vt:lpstr>
      <vt:lpstr>Wingdings 3</vt:lpstr>
      <vt:lpstr>HDOfficeLightV0</vt:lpstr>
      <vt:lpstr>New_Simple01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</dc:creator>
  <cp:lastModifiedBy>G</cp:lastModifiedBy>
  <cp:revision>11</cp:revision>
  <dcterms:created xsi:type="dcterms:W3CDTF">2025-07-22T08:05:23Z</dcterms:created>
  <dcterms:modified xsi:type="dcterms:W3CDTF">2025-07-24T01:58:03Z</dcterms:modified>
</cp:coreProperties>
</file>